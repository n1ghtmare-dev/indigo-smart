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1a3475941c4254" /><Relationship Type="http://schemas.openxmlformats.org/officeDocument/2006/relationships/extended-properties" Target="/docProps/app.xml" Id="R05218afd72ac4085" /><Relationship Type="http://schemas.openxmlformats.org/officeDocument/2006/relationships/officeDocument" Target="/ppt/presentation.xml" Id="R7e7966d5f394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7393f0143241b1"/>
  </p:sldMasterIdLst>
  <p:notesMasterIdLst>
    <p:notesMasterId xmlns:r="http://schemas.openxmlformats.org/officeDocument/2006/relationships" r:id="R74f1146c2e764995"/>
  </p:notesMasterIdLst>
  <p:sldIdLst>
    <p:sldId xmlns:r="http://schemas.openxmlformats.org/officeDocument/2006/relationships" id="256" r:id="Rad77a213ff5b4db9"/>
    <p:sldId xmlns:r="http://schemas.openxmlformats.org/officeDocument/2006/relationships" id="257" r:id="R25c5456d4d0640be"/>
    <p:sldId xmlns:r="http://schemas.openxmlformats.org/officeDocument/2006/relationships" id="258" r:id="R3517da005b704d28"/>
    <p:sldId xmlns:r="http://schemas.openxmlformats.org/officeDocument/2006/relationships" id="259" r:id="R847e4b2378874459"/>
    <p:sldId xmlns:r="http://schemas.openxmlformats.org/officeDocument/2006/relationships" id="260" r:id="R424a502743d54eb6"/>
    <p:sldId xmlns:r="http://schemas.openxmlformats.org/officeDocument/2006/relationships" id="261" r:id="R2b2fc8426406439b"/>
    <p:sldId xmlns:r="http://schemas.openxmlformats.org/officeDocument/2006/relationships" id="262" r:id="Ree7243b61547484f"/>
    <p:sldId xmlns:r="http://schemas.openxmlformats.org/officeDocument/2006/relationships" id="263" r:id="R757fe2b3b81d4fe9"/>
    <p:sldId xmlns:r="http://schemas.openxmlformats.org/officeDocument/2006/relationships" id="264" r:id="R928f39fd4b984308"/>
    <p:sldId xmlns:r="http://schemas.openxmlformats.org/officeDocument/2006/relationships" id="265" r:id="R2745d21967b549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a7f0d5885f41f1" /><Relationship Type="http://schemas.openxmlformats.org/officeDocument/2006/relationships/slideMaster" Target="/ppt/slideMasters/slideMaster1.xml" Id="R437393f0143241b1" /><Relationship Type="http://schemas.openxmlformats.org/officeDocument/2006/relationships/notesMaster" Target="/ppt/notesMasters/notesMaster1.xml" Id="R74f1146c2e764995" /><Relationship Type="http://schemas.openxmlformats.org/officeDocument/2006/relationships/presProps" Target="/ppt/presProps.xml" Id="Reb5ef7b769a94f21" /><Relationship Type="http://schemas.openxmlformats.org/officeDocument/2006/relationships/tableStyles" Target="/ppt/tableStyles.xml" Id="Rac65277f1c5248b7" /><Relationship Type="http://schemas.openxmlformats.org/officeDocument/2006/relationships/slide" Target="/ppt/slides/slide1.xml" Id="Rad77a213ff5b4db9" /><Relationship Type="http://schemas.openxmlformats.org/officeDocument/2006/relationships/slide" Target="/ppt/slides/slide2.xml" Id="R25c5456d4d0640be" /><Relationship Type="http://schemas.openxmlformats.org/officeDocument/2006/relationships/slide" Target="/ppt/slides/slide3.xml" Id="R3517da005b704d28" /><Relationship Type="http://schemas.openxmlformats.org/officeDocument/2006/relationships/slide" Target="/ppt/slides/slide4.xml" Id="R847e4b2378874459" /><Relationship Type="http://schemas.openxmlformats.org/officeDocument/2006/relationships/slide" Target="/ppt/slides/slide5.xml" Id="R424a502743d54eb6" /><Relationship Type="http://schemas.openxmlformats.org/officeDocument/2006/relationships/slide" Target="/ppt/slides/slide6.xml" Id="R2b2fc8426406439b" /><Relationship Type="http://schemas.openxmlformats.org/officeDocument/2006/relationships/slide" Target="/ppt/slides/slide7.xml" Id="Ree7243b61547484f" /><Relationship Type="http://schemas.openxmlformats.org/officeDocument/2006/relationships/slide" Target="/ppt/slides/slide8.xml" Id="R757fe2b3b81d4fe9" /><Relationship Type="http://schemas.openxmlformats.org/officeDocument/2006/relationships/slide" Target="/ppt/slides/slide9.xml" Id="R928f39fd4b984308" /><Relationship Type="http://schemas.openxmlformats.org/officeDocument/2006/relationships/slide" Target="/ppt/slides/slide10.xml" Id="R2745d21967b549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c3cde27ee844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3d72fab406467f" /><Relationship Type="http://schemas.openxmlformats.org/officeDocument/2006/relationships/notesMaster" Target="/ppt/notesMasters/notesMaster1.xml" Id="Rfd4f3039fcb0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c1b50a953482d" /><Relationship Type="http://schemas.openxmlformats.org/officeDocument/2006/relationships/notesMaster" Target="/ppt/notesMasters/notesMaster1.xml" Id="R9f4d7cacb9d84f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4728cdf74f4197" /><Relationship Type="http://schemas.openxmlformats.org/officeDocument/2006/relationships/notesMaster" Target="/ppt/notesMasters/notesMaster1.xml" Id="Re6eccca9c37c44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847a357bef42a9" /><Relationship Type="http://schemas.openxmlformats.org/officeDocument/2006/relationships/notesMaster" Target="/ppt/notesMasters/notesMaster1.xml" Id="Rc95601164d34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226963630d4794" /><Relationship Type="http://schemas.openxmlformats.org/officeDocument/2006/relationships/notesMaster" Target="/ppt/notesMasters/notesMaster1.xml" Id="R3ab573cfe20e49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a49bdd5f4e4aa7" /><Relationship Type="http://schemas.openxmlformats.org/officeDocument/2006/relationships/notesMaster" Target="/ppt/notesMasters/notesMaster1.xml" Id="Rd9bca8240c0c49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9ac17987cc4a41" /><Relationship Type="http://schemas.openxmlformats.org/officeDocument/2006/relationships/notesMaster" Target="/ppt/notesMasters/notesMaster1.xml" Id="Rb6bcc2c6fe5a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9d0b0223914d00" /><Relationship Type="http://schemas.openxmlformats.org/officeDocument/2006/relationships/notesMaster" Target="/ppt/notesMasters/notesMaster1.xml" Id="Ra302e8fab55547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a7471c0cf345e7" /><Relationship Type="http://schemas.openxmlformats.org/officeDocument/2006/relationships/notesMaster" Target="/ppt/notesMasters/notesMaster1.xml" Id="R01734a0c37ef4b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1fdd24528e42ec" /><Relationship Type="http://schemas.openxmlformats.org/officeDocument/2006/relationships/notesMaster" Target="/ppt/notesMasters/notesMaster1.xml" Id="Rd8e31eb68d8d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>К разрешению рекомендуется EARTH_NEW_BASE_R60_E_INSURANCE. EARTH_NEW_BASE_R45 — только ценовой победитель среди 24 вариантов.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>NASA-STD-7009B (2024) https://standards.nasa.gov/standard/nasa/nasa-std-7009 Разделяем верификацию кода, входную достоверность, чувствительность и границы применимости. Реализация: контрольные тесты, хеши, audit.py и явные допущения. Это ориентир по структуре доказательств, не заявление сертификации NASA.</a:t>
            </a:r>
          </a:p>
          <a:p xmlns:a="http://schemas.openxmlformats.org/drawingml/2006/main">
            <a:r>
              <a:t>Ho (2024), Space Logistics Modeling… https://doi.org/10.2514/1.A35982 Сетевой подход к логистике и учёт запасов связываем с календарём заказов, узлом хранения и журналом массы. Здесь один агрегированный узел без маршрутизации. Доступны аннотация издателя и список публикаций автора, не полный текст статьи.</a:t>
            </a:r>
          </a:p>
          <a:p xmlns:a="http://schemas.openxmlformats.org/drawingml/2006/main">
            <a:r>
              <a:t>Simonini et al. (2024), cryogenic propellant management https://pmc.ncbi.nlm.nih.gov/articles/PMC10954726/ Криогенное хранение и перекачка требуют отдельной инженерной проверки. В программе это граница модели: 1,2% и 4,5% взяты только из кейса, не объявлены универсальными физическими характеристиками ZBO.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>Используем идею прозрачной цены защиты против неблагоприятной среды. Наш метод — конечное сравнение худшей PV двух сред среди 24 эвристических планов, не реализация линейной робастной модели авторов и не доказательство глобальной робастности. https://pubsonline.informs.org/doi/10.1287/opre.1030.0065</a:t>
            </a:r>
          </a:p>
          <a:p xmlns:a="http://schemas.openxmlformats.org/drawingml/2006/main">
            <a:r>
              <a:t>Числа: лучшие допустимые планы каждой архитектуры по max(PV BASE, PV adapted stress).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>Запас, несколько поставщиков и резервирование мощности проверены как конкретные меры: B, превентивная E-страховка, резерв 60 дней. Их стоимость и последствия посчитаны; вероятности отказов из обзора не заимствуются. https://pmc.ncbi.nlm.nih.gov/articles/PMC11997565/</a:t>
            </a:r>
          </a:p>
          <a:p xmlns:a="http://schemas.openxmlformats.org/drawingml/2006/main">
            <a:r>
              <a:t>Риски рассчитаны отдельно. A: партии первого полугодия 2038, 90 дней задержки. C: партии мая–октября 2038, 60 дней. R60 и E включены заранее.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чисел: results/project/summary.json и сохранённые input-package.json. Все цены в млн у.е. в постоянных ценах 2035, PV при 10% реальных годовых к началу 2035. Расчёт условен относительно TEAM_POLICY_V1.</a:t>
            </a:r>
          </a:p>
          <a:p xmlns:a="http://schemas.openxmlformats.org/drawingml/2006/main">
            <a:r>
              <a:t>NASA-STD-7009B (2024) https://standards.nasa.gov/standard/nasa/nasa-std-7009</a:t>
            </a:r>
          </a:p>
          <a:p xmlns:a="http://schemas.openxmlformats.org/drawingml/2006/main">
            <a:r>
              <a:t>Ho (2024), Space Logistics Modeling… https://doi.org/10.2514/1.A35982</a:t>
            </a:r>
          </a:p>
          <a:p xmlns:a="http://schemas.openxmlformats.org/drawingml/2006/main">
            <a:r>
              <a:t>Simonini et al. (2024), cryogenic propellant management https://pmc.ncbi.nlm.nih.gov/articles/PMC10954726/</a:t>
            </a:r>
          </a:p>
          <a:p xmlns:a="http://schemas.openxmlformats.org/drawingml/2006/main">
            <a:r>
              <a:t>Bertsimas &amp; Sim (2004), The Price of Robustness https://pubsonline.informs.org/doi/10.1287/opre.1030.0065</a:t>
            </a:r>
          </a:p>
          <a:p xmlns:a="http://schemas.openxmlformats.org/drawingml/2006/main">
            <a:r>
              <a:t>Guo et al. (2025), supply-chain resilience https://pmc.ncbi.nlm.nih.gov/articles/PMC11997565/</a:t>
            </a:r>
          </a:p>
          <a:p xmlns:a="http://schemas.openxmlformats.org/drawingml/2006/main">
            <a:r>
              <a:t>Sommariva et al. (2023), lunar propellant economics https://iris.unibocconi.it/handle/11565/4055604</a:t>
            </a:r>
          </a:p>
          <a:p xmlns:a="http://schemas.openxmlformats.org/drawingml/2006/main">
            <a:r>
              <a:t>Выполнены контрольные, интеграционные и HTTP-тесты; интерфейс проверен в Safari, включая запрет C=0. Нет внешней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c6acd83954b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29445a1fd14e05" /><Relationship Type="http://schemas.openxmlformats.org/officeDocument/2006/relationships/slideLayout" Target="/ppt/slideLayouts/slideLayout1.xml" Id="R87177ea56d4d43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77ea56d4d43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3d1077f784d09" /><Relationship Type="http://schemas.openxmlformats.org/officeDocument/2006/relationships/notesSlide" Target="/ppt/notesSlides/notesSlide1.xml" Id="Rcfc97d249f8c42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c0a73c690459c" /><Relationship Type="http://schemas.openxmlformats.org/officeDocument/2006/relationships/notesSlide" Target="/ppt/notesSlides/notesSlide2.xml" Id="Re45c4607cbe043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c2e32ad334d77" /><Relationship Type="http://schemas.openxmlformats.org/officeDocument/2006/relationships/notesSlide" Target="/ppt/notesSlides/notesSlide3.xml" Id="R817f763bdad444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21aa986294dfa" /><Relationship Type="http://schemas.openxmlformats.org/officeDocument/2006/relationships/notesSlide" Target="/ppt/notesSlides/notesSlide4.xml" Id="R176143e32fde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4d0bf1bb442da" /><Relationship Type="http://schemas.openxmlformats.org/officeDocument/2006/relationships/notesSlide" Target="/ppt/notesSlides/notesSlide5.xml" Id="Ra5cc2f458023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0727ba1874419" /><Relationship Type="http://schemas.openxmlformats.org/officeDocument/2006/relationships/notesSlide" Target="/ppt/notesSlides/notesSlide6.xml" Id="R240fc396669941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c8596ef004440" /><Relationship Type="http://schemas.openxmlformats.org/officeDocument/2006/relationships/notesSlide" Target="/ppt/notesSlides/notesSlide7.xml" Id="R81e776c7d9324a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cadd893a44e19" /><Relationship Type="http://schemas.openxmlformats.org/officeDocument/2006/relationships/notesSlide" Target="/ppt/notesSlides/notesSlide8.xml" Id="R213bf57ba98144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7798f18874ad4" /><Relationship Type="http://schemas.openxmlformats.org/officeDocument/2006/relationships/notesSlide" Target="/ppt/notesSlides/notesSlide9.xml" Id="R27050d9a954641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f58d410b04862" /><Relationship Type="http://schemas.openxmlformats.org/officeDocument/2006/relationships/notesSlide" Target="/ppt/notesSlides/notesSlide10.xml" Id="R42a109be847c40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126F3-C8F4-4D9A-B5B2-98FA098E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Топливный</a:t>
            </a:r>
          </a:p>
          <a:p xmlns:a="http://schemas.openxmlformats.org/drawingml/2006/main">
            <a:pPr>
              <a:defRPr sz="495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космоконтур 2035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254E6-0C69-4137-A53C-7736B836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Усиленный пакет: Земля + C</a:t>
            </a:r>
          </a:p>
          <a:p xmlns:a="http://schemas.openxmlformats.org/drawingml/2006/main">
            <a:pPr>
              <a:defRPr sz="247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ZBO · R60 · резервы B и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6DD2F-9B7B-4DE5-95BB-C35F11A8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5D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5D70"/>
                </a:solidFill>
                <a:latin typeface="DejaVu Sans"/>
                <a:ea typeface="DejaVu Sans"/>
                <a:cs typeface="DejaVu Sans"/>
              </a:rPr>
              <a:t>Условное разрешение</a:t>
            </a:r>
          </a:p>
          <a:p xmlns:a="http://schemas.openxmlformats.org/drawingml/2006/main">
            <a:pPr>
              <a:defRPr sz="2025" b="0">
                <a:solidFill>
                  <a:srgbClr val="245D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45D70"/>
                </a:solidFill>
                <a:latin typeface="DejaVu Sans"/>
                <a:ea typeface="DejaVu Sans"/>
                <a:cs typeface="DejaVu Sans"/>
              </a:rPr>
              <a:t>Ценовой победитель R45 ≠ пакет исполнения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C7733-E789-428A-8DB3-0EDCFA86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Учебный кейс · 2035–2040 · Версия 1.0</a:t>
            </a:r>
          </a:p>
          <a:p xmlns:a="http://schemas.openxmlformats.org/drawingml/2006/main">
            <a:pPr>
              <a:def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Ворота: B в 2034 подтверждён · доставка C ≤4 месяцев</a:t>
            </a:r>
          </a:p>
        </p:txBody>
      </p:sp>
    </p:spTree>
    <p:extLst>
      <p:ext uri="{BB962C8B-B14F-4D97-AF65-F5344CB8AC3E}">
        <p14:creationId xmlns:p14="http://schemas.microsoft.com/office/powerpoint/2010/main" val="933023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3BCA0-CF76-4DA0-AE72-E547DE55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Архитектура снабжения и расчёта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A7660-F7E8-4D78-9AA7-7DE65E26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6F9D1-25AD-46E1-BAFB-FEC751BE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9AADB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A/B/C с Земли</a:t>
            </a:r>
          </a:p>
          <a:p xmlns:a="http://schemas.openxmlformats.org/drawingml/2006/main">
            <a:pPr>
              <a:def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D: ISRU, E: Emergency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5BD58-C812-4586-824C-85D53DB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19250"/>
            <a:ext cx="30861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9AADB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Орбитальный узел</a:t>
            </a:r>
          </a:p>
          <a:p xmlns:a="http://schemas.openxmlformats.org/drawingml/2006/main">
            <a:pPr>
              <a:def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Запас 70 / 120 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7AA93-6738-4D3C-B7F8-4F4DC2B8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6"/>
          </a:solidFill>
          <a:ln xmlns:a="http://schemas.openxmlformats.org/drawingml/2006/main" w="9525">
            <a:solidFill>
              <a:srgbClr val="9AADB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Критический спрос</a:t>
            </a:r>
          </a:p>
          <a:p xmlns:a="http://schemas.openxmlformats.org/drawingml/2006/main">
            <a:pPr>
              <a:def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и прочие потребители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752850" y="21621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D70"/>
            </a:solidFill>
            <a:tail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39050" y="21621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D70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46F96-B26E-4368-AA5F-09B40621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Запас на конец = запас на начало + поступления − потери − выдача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1637C-A296-4A02-9B3C-F95EF24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34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Проверяем даты заказа и ввода, мощность и ёмкость.</a:t>
            </a:r>
          </a:p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Резерв на границе года проверяется до новых поставок.</a:t>
            </a:r>
          </a:p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Критическая выдача получает приоритет внутри каждого интервала.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94E3F-06DB-4E56-B1B9-9D88772F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5 неизменённых CSV. Точные дробные даты и Decimal. Надёжность не является множителем объёма.</a:t>
            </a:r>
          </a:p>
        </p:txBody>
      </p:sp>
    </p:spTree>
    <p:extLst>
      <p:ext uri="{BB962C8B-B14F-4D97-AF65-F5344CB8AC3E}">
        <p14:creationId xmlns:p14="http://schemas.microsoft.com/office/powerpoint/2010/main" val="1256296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F6D3D-D097-4FD3-99C8-16677FF3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BASE: 1 390 т обслуживания без дефицита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3886-3AAA-42C9-BB85-C3E088AD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1952625"/>
                <a:gridCol w="2143125"/>
                <a:gridCol w="1952625"/>
                <a:gridCol w="1952625"/>
                <a:gridCol w="1924050"/>
              </a:tblGrid>
              <a:tr h="49666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Год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Начало, т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Поступило, т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Выдано, т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Потери, т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Конец, т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2035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16,44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111,60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100,00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5,02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23,01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2036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23,01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152,57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140,00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4,35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31,23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2037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31,23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208,53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190,00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2,50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47,26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2038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47,26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266,43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250,00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3,20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60,49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2039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60,49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337,28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320,00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4,05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73,73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73,73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320,12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390,00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3,84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3B114-C917-439D-BD8B-F16B10FA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Сервис 100% по всем годам. R60 создаёт 16,438 т начального запаса поставкой B в 2034.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97BD6-57FE-4005-B758-343E120B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Без подтверждения предстартового B пакет не разрешается: требуется отдельный стартовый план.</a:t>
            </a:r>
          </a:p>
        </p:txBody>
      </p:sp>
    </p:spTree>
    <p:extLst>
      <p:ext uri="{BB962C8B-B14F-4D97-AF65-F5344CB8AC3E}">
        <p14:creationId xmlns:p14="http://schemas.microsoft.com/office/powerpoint/2010/main" val="5496493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D18F8-CF12-4909-8AFD-E20114F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Затраты BASE и инвестиционные ворота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43172-9E88-4B13-91AD-80201779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143125"/>
                <a:gridCol w="5495925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Статья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Млн у.е.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Правило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Закупки / TOP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9 211,40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max(заказ, минимум TOP)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Резерв мощности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714,39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Плата за доступность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Хранение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207,37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 интегралу запаса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OPEX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54,00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После ввода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CAPEX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540,00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C: 90 + 270, ZBO: 180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1C117-E6F4-4A9D-B54A-C20C0EBF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96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Всего 10 727,15 млн. PV 7 500,01 млн при 10%.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07F83-CE2F-4E0A-8ED2-F2AED307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Премия к R45: 116,488 млн BASE = R60 32,488 + E 84. CAPEX 540 ≤ 1800 / 2800.</a:t>
            </a:r>
          </a:p>
        </p:txBody>
      </p:sp>
    </p:spTree>
    <p:extLst>
      <p:ext uri="{BB962C8B-B14F-4D97-AF65-F5344CB8AC3E}">
        <p14:creationId xmlns:p14="http://schemas.microsoft.com/office/powerpoint/2010/main" val="573600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0D9C3-5E16-4F0F-B621-FC939DD9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Ценовой скрининг ≠ разрешение исполнения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0037-0133-434E-8155-FFF0A20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2381250"/>
                <a:gridCol w="287655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Архитектура / дни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CAPEX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PV BASE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PV стресс + меры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Земля / 70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7 644,98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9 439,38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Земля + C / 45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7 387,72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8 712,02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Земля + ISRU / 45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1 430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7 202,14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9 106,22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 + ISRU / 45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1 790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7 490,94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9 361,96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02B08-C26C-4C4B-8D43-1599BAB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R45: ценовой победитель двух сред</a:t>
            </a:r>
          </a:p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R60 + E: пакет к условному разрешению</a:t>
            </a:r>
          </a:p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Защита не скрыта внутри «бесплатной» реакции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75EF4-04D7-451A-AEF0-3D68B73E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24 эвристических плана, 19 допустимых. Усиление стоит 116,488 млн BASE. Вероятности сценариев не заданы.</a:t>
            </a:r>
          </a:p>
        </p:txBody>
      </p:sp>
    </p:spTree>
    <p:extLst>
      <p:ext uri="{BB962C8B-B14F-4D97-AF65-F5344CB8AC3E}">
        <p14:creationId xmlns:p14="http://schemas.microsoft.com/office/powerpoint/2010/main" val="1241671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54490-4617-45FA-8424-68154A9F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Реакция восстанавливает сервис в обязательном стрессе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9E3EF-E710-4CF2-BB3F-ECCF2990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595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План / среда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Затраты, млн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PV, млн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Дефицит, т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10 727,15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7 500,01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Стресс: тот же план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11 268,61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7 855,31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144,00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Стресс: реакция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12 844,14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8 828,94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D3776-EDD9-440D-A408-92DE8209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858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Реакция использует оплаченный резерв B, 110 т/год с 2037.</a:t>
            </a:r>
          </a:p>
          <a:p xmlns:a="http://schemas.openxmlformats.org/drawingml/2006/main">
            <a:pPr>
              <a:def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Новые заказы после начала 2038, доставка через 4 месяца.</a:t>
            </a:r>
          </a:p>
          <a:p xmlns:a="http://schemas.openxmlformats.org/drawingml/2006/main">
            <a:pPr>
              <a:def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Старые заказы, договоры и инвестиции сохраняются.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CAD91-8B32-408D-8AAC-91524A9D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Стресс: спрос +15% с 2038, A/B цены +25% в 2038–2039, D: 55%/75%, потери ≤2%.</a:t>
            </a:r>
          </a:p>
          <a:p xmlns:a="http://schemas.openxmlformats.org/drawingml/2006/main">
            <a:pPr>
              <a:def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Все параметры известны с начала 2038 по допущению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10021966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36082-39E4-4F2B-98D7-7585FDE2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Ключевые риски встроены в пакет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299F7-E95C-4A31-8A9E-5891750E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00425"/>
                <a:gridCol w="4905375"/>
              </a:tblGrid>
              <a:tr h="571500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Риск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Незащищённый R45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Пакет / заданная реакция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A: задержка 90 дней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31,39 т дефицита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+84 млн BASE → FEASIBLE, 0 т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C: задержка 60 дней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 т дефицита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Проходит заданное окно задержки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Спрос +25%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7,37 т после B-реакции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R60 +32,49 млн BASE → FEASIBLE, 0 т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Цены A/B +50%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Сервис сохраняется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Расходы 11 850,66 млн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CAPEX +30%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702 млн, допустимо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Лунный вариант: 1859 &gt; 1800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D: 50% в 2038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Выбранный план без D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Лунный вариант: дефицит 59,28 т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5B75A-7FA7-4414-922A-FF116D2E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Владельцы: задержка A — логистика; спрос — оператор и потребители. Совместное наступление рисков не проверено.</a:t>
            </a:r>
          </a:p>
        </p:txBody>
      </p:sp>
    </p:spTree>
    <p:extLst>
      <p:ext uri="{BB962C8B-B14F-4D97-AF65-F5344CB8AC3E}">
        <p14:creationId xmlns:p14="http://schemas.microsoft.com/office/powerpoint/2010/main" val="9397374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C09B7-FA63-44D4-94B9-2B2A79FC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Рекомендация — условная развилка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51EFF-0135-45A6-8BEA-5F6E1B2E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2286000"/>
                <a:gridCol w="3429000"/>
                <a:gridCol w="2162175"/>
              </a:tblGrid>
              <a:tr h="6072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Регулярная доставка C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Стресс с реакцией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Крит. сервис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мес.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FEASIBLE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Допустимо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100,000%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мес.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FEASIBLE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Допустимо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100,000%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мес.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FEASIBLE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Цель не достигнута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98,298%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58BFE-659F-40B4-9F07-C8AD1EE5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C ≤4 и B подтверждён → разрешить R60 + E</a:t>
            </a:r>
          </a:p>
          <a:p xmlns:a="http://schemas.openxmlformats.org/drawingml/2006/main">
            <a:pPr>
              <a:def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C =6 → R45 отклонить, пересчитать и утвердить иной пакет</a:t>
            </a:r>
          </a:p>
          <a:p xmlns:a="http://schemas.openxmlformats.org/drawingml/2006/main">
            <a:pPr>
              <a:def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B в 2034 не подтверждён → отдельный стартовый план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619FE-0FA3-4EBB-8B8E-1E881971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Форма и ядро принимают срок C только 2–6 месяцев; ноль запрещён.</a:t>
            </a:r>
          </a:p>
          <a:p xmlns:a="http://schemas.openxmlformats.org/drawingml/2006/main">
            <a:pPr>
              <a:defRPr sz="15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Таблица выше — чувствительность ценового R45, а не автоматическое разрешение.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953574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AF201-D770-48AE-9F38-3FCD533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Ответственность и график исполнения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39FB4-83DA-4542-959F-52A2FA0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286250"/>
                <a:gridCol w="4638675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Период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Решение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Ответственный контроль</a:t>
                      </a:r>
                    </a:p>
                  </a:txBody>
                  <a:tcPr marL="114300" marR="114300" marT="95250" marB="95250" anchor="ctr">
                    <a:solidFill>
                      <a:srgbClr val="245D7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2034–2035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Начальный запас, опцион C 90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Оператор: Q01 и сроки A/B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2036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 270, ZBO 180, монтаж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Инвестор и инженер: деньги до ввода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2037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R60; резерв B 110 т/год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Закупки: готовность и обязательства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2038–2040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80 т/год; C и реакции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Логистика: A-триггер и сроки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Каждый расчёт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Сервис ≥97% / ≥99%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13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Потребители: критический приоритет</a:t>
                      </a:r>
                    </a:p>
                  </a:txBody>
                  <a:tcPr marL="114300" marR="114300" marT="95250" marB="95250" anchor="ctr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B0C1A-5B76-46E3-9590-8849CF19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Триггеры: A задерживается → активировать E; спрос утверждён +25% → R60 + B.</a:t>
            </a:r>
          </a:p>
          <a:p xmlns:a="http://schemas.openxmlformats.org/drawingml/2006/main">
            <a:pPr>
              <a:defRPr sz="187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C &gt;4 месяца или нет B в 2034 → остановить разрешение.</a:t>
            </a:r>
          </a:p>
          <a:p xmlns:a="http://schemas.openxmlformats.org/drawingml/2006/main">
            <a:pPr>
              <a:defRPr sz="1875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Последствия не перекладываются на потребителей молча.</a:t>
            </a:r>
          </a:p>
        </p:txBody>
      </p:sp>
    </p:spTree>
    <p:extLst>
      <p:ext uri="{BB962C8B-B14F-4D97-AF65-F5344CB8AC3E}">
        <p14:creationId xmlns:p14="http://schemas.microsoft.com/office/powerpoint/2010/main" val="620991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C9D2-2306-400E-8014-31C42516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Рабочий контур и условия принятия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23A3C-7C26-4DEA-84FF-F5D6944A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531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757CE-AE09-40DE-A4F6-30B04B9B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5D7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45D70"/>
                </a:solidFill>
                <a:latin typeface="DejaVu Sans"/>
                <a:ea typeface="DejaVu Sans"/>
                <a:cs typeface="DejaVu Sans"/>
              </a:rPr>
              <a:t>Локальный запуск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21D27-DAC1-44A6-8331-CCE52886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python3 scripts/serve.py</a:t>
            </a:r>
          </a:p>
          <a:p xmlns:a="http://schemas.openxmlformats.org/drawingml/2006/main">
            <a:pPr>
              <a:defRPr sz="225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http://127.0.0.1:8765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5A6B7-F15C-47F9-9AF6-741F3DC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Открыть BASE, затем фиксированный стресс и отдельную реакцию.</a:t>
            </a:r>
          </a:p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Сохранить пакет JSON, открыть заново и повторить расчёт.</a:t>
            </a:r>
          </a:p>
          <a:p xmlns:a="http://schemas.openxmlformats.org/drawingml/2006/main">
            <a:pPr>
              <a:def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Исследовательская копия демонстрирует 2041 и источник 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E2244-FB0F-4A0E-9078-9728B87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Разрешить только при B в 2034 и C ≤4 месяцев.</a:t>
            </a:r>
          </a:p>
          <a:p xmlns:a="http://schemas.openxmlformats.org/drawingml/2006/main">
            <a:pPr>
              <a:defRPr sz="2250" b="1">
                <a:solidFill>
                  <a:srgbClr val="1731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13F"/>
                </a:solidFill>
                <a:latin typeface="DejaVu Sans"/>
                <a:ea typeface="DejaVu Sans"/>
                <a:cs typeface="DejaVu Sans"/>
              </a:rPr>
              <a:t>Иначе: пересчёт/иной пакет или отдельный стартовый план.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62B36-E55A-460E-8349-D8170847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8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872"/>
                </a:solidFill>
                <a:latin typeface="DejaVu Sans"/>
                <a:ea typeface="DejaVu Sans"/>
                <a:cs typeface="DejaVu Sans"/>
              </a:rPr>
              <a:t>Код, данные, CSV, записка, реестр рисков и инструкция включены. API-ключи не требуются.</a:t>
            </a:r>
          </a:p>
        </p:txBody>
      </p:sp>
    </p:spTree>
    <p:extLst>
      <p:ext uri="{BB962C8B-B14F-4D97-AF65-F5344CB8AC3E}">
        <p14:creationId xmlns:p14="http://schemas.microsoft.com/office/powerpoint/2010/main" val="851453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2026-09-19T09:27:30.5440000Z</dcterms:created>
  <dcterms:modified xsi:type="dcterms:W3CDTF">2026-09-19T09:27:30.5440000Z</dcterms:modified>
</coreProperties>
</file>